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4206240"/>
            <a:ext cx="4754880" cy="4754880"/>
          </a:xfrm>
          <a:prstGeom prst="ellipse">
            <a:avLst/>
          </a:prstGeom>
          <a:solidFill>
            <a:srgbClr val="141B4D"/>
          </a:solidFill>
          <a:ln/>
        </p:spPr>
      </p:sp>
      <p:sp>
        <p:nvSpPr>
          <p:cNvPr id="3" name="Shape 1"/>
          <p:cNvSpPr/>
          <p:nvPr/>
        </p:nvSpPr>
        <p:spPr>
          <a:xfrm>
            <a:off x="10515600" y="2103120"/>
            <a:ext cx="2377440" cy="2377440"/>
          </a:xfrm>
          <a:prstGeom prst="ellipse">
            <a:avLst/>
          </a:prstGeom>
          <a:solidFill>
            <a:srgbClr val="141B4D"/>
          </a:solidFill>
          <a:ln/>
        </p:spPr>
      </p:sp>
      <p:sp>
        <p:nvSpPr>
          <p:cNvPr id="4" name="Shape 2"/>
          <p:cNvSpPr/>
          <p:nvPr/>
        </p:nvSpPr>
        <p:spPr>
          <a:xfrm>
            <a:off x="8732520" y="2148840"/>
            <a:ext cx="1874520" cy="1874520"/>
          </a:xfrm>
          <a:prstGeom prst="ellipse">
            <a:avLst/>
          </a:prstGeom>
          <a:solidFill>
            <a:srgbClr val="3DDC97"/>
          </a:solidFill>
          <a:ln/>
        </p:spPr>
      </p:sp>
      <p:pic>
        <p:nvPicPr>
          <p:cNvPr id="5" name="Image 0" descr="/home/claude/codesentry/icon_shiel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01150" y="2617470"/>
            <a:ext cx="937260" cy="9372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2331720"/>
            <a:ext cx="7680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CodeSentry</a:t>
            </a:r>
            <a:endParaRPr lang="en-US" sz="4800" dirty="0"/>
          </a:p>
        </p:txBody>
      </p:sp>
      <p:sp>
        <p:nvSpPr>
          <p:cNvPr id="7" name="Text 4"/>
          <p:cNvSpPr/>
          <p:nvPr/>
        </p:nvSpPr>
        <p:spPr>
          <a:xfrm>
            <a:off x="658368" y="324612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Token-Efficient Source Code Security Scanner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658368" y="379476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9AAA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  ·  Score  ·  Enrich  ·  Report — in one self-contained pipeline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58368" y="4892040"/>
            <a:ext cx="1993392" cy="457200"/>
          </a:xfrm>
          <a:prstGeom prst="roundRect">
            <a:avLst>
              <a:gd name="adj" fmla="val 20000"/>
            </a:avLst>
          </a:prstGeom>
          <a:solidFill>
            <a:srgbClr val="141B4D"/>
          </a:solidFill>
          <a:ln w="12700">
            <a:solidFill>
              <a:srgbClr val="3A4487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58368" y="4892040"/>
            <a:ext cx="1993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2670048" y="4892040"/>
            <a:ext cx="182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DDC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2871216" y="4892040"/>
            <a:ext cx="1481328" cy="457200"/>
          </a:xfrm>
          <a:prstGeom prst="roundRect">
            <a:avLst>
              <a:gd name="adj" fmla="val 20000"/>
            </a:avLst>
          </a:prstGeom>
          <a:solidFill>
            <a:srgbClr val="141B4D"/>
          </a:solidFill>
          <a:ln w="12700">
            <a:solidFill>
              <a:srgbClr val="3A4487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2871216" y="4892040"/>
            <a:ext cx="14813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4370832" y="4892040"/>
            <a:ext cx="182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DDC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4572000" y="4892040"/>
            <a:ext cx="2761488" cy="457200"/>
          </a:xfrm>
          <a:prstGeom prst="roundRect">
            <a:avLst>
              <a:gd name="adj" fmla="val 20000"/>
            </a:avLst>
          </a:prstGeom>
          <a:solidFill>
            <a:srgbClr val="141B4D"/>
          </a:solidFill>
          <a:ln w="12700">
            <a:solidFill>
              <a:srgbClr val="3A4487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572000" y="4892040"/>
            <a:ext cx="27614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Normalize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7351776" y="4892040"/>
            <a:ext cx="182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DDC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7552944" y="4892040"/>
            <a:ext cx="1737360" cy="457200"/>
          </a:xfrm>
          <a:prstGeom prst="roundRect">
            <a:avLst>
              <a:gd name="adj" fmla="val 20000"/>
            </a:avLst>
          </a:prstGeom>
          <a:solidFill>
            <a:srgbClr val="141B4D"/>
          </a:solidFill>
          <a:ln w="12700">
            <a:solidFill>
              <a:srgbClr val="3A4487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552944" y="489204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9308592" y="4892040"/>
            <a:ext cx="182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DDC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21" name="Shape 18"/>
          <p:cNvSpPr/>
          <p:nvPr/>
        </p:nvSpPr>
        <p:spPr>
          <a:xfrm>
            <a:off x="9509760" y="4892040"/>
            <a:ext cx="1993392" cy="457200"/>
          </a:xfrm>
          <a:prstGeom prst="roundRect">
            <a:avLst>
              <a:gd name="adj" fmla="val 20000"/>
            </a:avLst>
          </a:prstGeom>
          <a:solidFill>
            <a:srgbClr val="141B4D"/>
          </a:solidFill>
          <a:ln w="12700">
            <a:solidFill>
              <a:srgbClr val="3A4487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9509760" y="4892040"/>
            <a:ext cx="1993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Enrich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11521440" y="4892040"/>
            <a:ext cx="182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DDC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24" name="Shape 21"/>
          <p:cNvSpPr/>
          <p:nvPr/>
        </p:nvSpPr>
        <p:spPr>
          <a:xfrm>
            <a:off x="11722608" y="4892040"/>
            <a:ext cx="1993392" cy="457200"/>
          </a:xfrm>
          <a:prstGeom prst="roundRect">
            <a:avLst>
              <a:gd name="adj" fmla="val 20000"/>
            </a:avLst>
          </a:prstGeom>
          <a:solidFill>
            <a:srgbClr val="141B4D"/>
          </a:solidFill>
          <a:ln w="12700">
            <a:solidFill>
              <a:srgbClr val="3A4487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11722608" y="4892040"/>
            <a:ext cx="1993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E9B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CodeSentry — Source Code Security Scanner</a:t>
            </a:r>
            <a:endParaRPr lang="en-US" sz="1000" dirty="0"/>
          </a:p>
        </p:txBody>
      </p:sp>
      <p:sp>
        <p:nvSpPr>
          <p:cNvPr id="27" name="Text 24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E9B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End-to-End Pipeline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Eight stages, fully automated — from raw upload to a persisted, self-contained report.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1234440" y="1737360"/>
            <a:ext cx="960120" cy="9601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5" name="Image 0" descr="/home/claude/codesentry/icon_uploa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64869" y="1967789"/>
            <a:ext cx="499262" cy="499262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1964131" y="1638605"/>
            <a:ext cx="329184" cy="329184"/>
          </a:xfrm>
          <a:prstGeom prst="ellipse">
            <a:avLst/>
          </a:prstGeom>
          <a:solidFill>
            <a:srgbClr val="3DDC97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964131" y="1638605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11480" y="2807208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32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411480" y="3136392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ZIP, directory, or git URL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2788920" y="20345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AAB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3840480" y="1737360"/>
            <a:ext cx="960120" cy="9601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2" name="Image 1" descr="/home/claude/codesentry/icon_search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0909" y="1967789"/>
            <a:ext cx="499262" cy="499262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4570171" y="1638605"/>
            <a:ext cx="329184" cy="329184"/>
          </a:xfrm>
          <a:prstGeom prst="ellipse">
            <a:avLst/>
          </a:prstGeom>
          <a:solidFill>
            <a:srgbClr val="3DDC97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4570171" y="1638605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3017520" y="2807208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32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</a:t>
            </a:r>
            <a:endParaRPr lang="en-US" sz="1400" dirty="0"/>
          </a:p>
        </p:txBody>
      </p:sp>
      <p:sp>
        <p:nvSpPr>
          <p:cNvPr id="16" name="Text 12"/>
          <p:cNvSpPr/>
          <p:nvPr/>
        </p:nvSpPr>
        <p:spPr>
          <a:xfrm>
            <a:off x="3017520" y="3136392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Semgrep, Gitleaks, Trivy, OSV</a:t>
            </a:r>
            <a:endParaRPr lang="en-US" sz="1050" dirty="0"/>
          </a:p>
        </p:txBody>
      </p:sp>
      <p:sp>
        <p:nvSpPr>
          <p:cNvPr id="17" name="Text 13"/>
          <p:cNvSpPr/>
          <p:nvPr/>
        </p:nvSpPr>
        <p:spPr>
          <a:xfrm>
            <a:off x="5394960" y="20345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AAB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8" name="Shape 14"/>
          <p:cNvSpPr/>
          <p:nvPr/>
        </p:nvSpPr>
        <p:spPr>
          <a:xfrm>
            <a:off x="6446520" y="1737360"/>
            <a:ext cx="960120" cy="9601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9" name="Image 2" descr="/home/claude/codesentry/icon_layer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6949" y="1967789"/>
            <a:ext cx="499262" cy="499262"/>
          </a:xfrm>
          <a:prstGeom prst="rect">
            <a:avLst/>
          </a:prstGeom>
        </p:spPr>
      </p:pic>
      <p:sp>
        <p:nvSpPr>
          <p:cNvPr id="20" name="Shape 15"/>
          <p:cNvSpPr/>
          <p:nvPr/>
        </p:nvSpPr>
        <p:spPr>
          <a:xfrm>
            <a:off x="7176211" y="1638605"/>
            <a:ext cx="329184" cy="329184"/>
          </a:xfrm>
          <a:prstGeom prst="ellipse">
            <a:avLst/>
          </a:prstGeom>
          <a:solidFill>
            <a:srgbClr val="3DDC97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21" name="Text 16"/>
          <p:cNvSpPr/>
          <p:nvPr/>
        </p:nvSpPr>
        <p:spPr>
          <a:xfrm>
            <a:off x="7176211" y="1638605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22" name="Text 17"/>
          <p:cNvSpPr/>
          <p:nvPr/>
        </p:nvSpPr>
        <p:spPr>
          <a:xfrm>
            <a:off x="5623560" y="2807208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32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Normalize</a:t>
            </a:r>
            <a:endParaRPr lang="en-US" sz="1400" dirty="0"/>
          </a:p>
        </p:txBody>
      </p:sp>
      <p:sp>
        <p:nvSpPr>
          <p:cNvPr id="23" name="Text 18"/>
          <p:cNvSpPr/>
          <p:nvPr/>
        </p:nvSpPr>
        <p:spPr>
          <a:xfrm>
            <a:off x="5623560" y="3136392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finding schema</a:t>
            </a:r>
            <a:endParaRPr lang="en-US" sz="1050" dirty="0"/>
          </a:p>
        </p:txBody>
      </p:sp>
      <p:sp>
        <p:nvSpPr>
          <p:cNvPr id="24" name="Text 19"/>
          <p:cNvSpPr/>
          <p:nvPr/>
        </p:nvSpPr>
        <p:spPr>
          <a:xfrm>
            <a:off x="8001000" y="20345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AAB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5" name="Shape 20"/>
          <p:cNvSpPr/>
          <p:nvPr/>
        </p:nvSpPr>
        <p:spPr>
          <a:xfrm>
            <a:off x="9052560" y="1737360"/>
            <a:ext cx="960120" cy="9601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6" name="Image 3" descr="/home/claude/codesentry/icon_cube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82989" y="1967789"/>
            <a:ext cx="499262" cy="499262"/>
          </a:xfrm>
          <a:prstGeom prst="rect">
            <a:avLst/>
          </a:prstGeom>
        </p:spPr>
      </p:pic>
      <p:sp>
        <p:nvSpPr>
          <p:cNvPr id="27" name="Shape 21"/>
          <p:cNvSpPr/>
          <p:nvPr/>
        </p:nvSpPr>
        <p:spPr>
          <a:xfrm>
            <a:off x="9782251" y="1638605"/>
            <a:ext cx="329184" cy="329184"/>
          </a:xfrm>
          <a:prstGeom prst="ellipse">
            <a:avLst/>
          </a:prstGeom>
          <a:solidFill>
            <a:srgbClr val="3DDC97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28" name="Text 22"/>
          <p:cNvSpPr/>
          <p:nvPr/>
        </p:nvSpPr>
        <p:spPr>
          <a:xfrm>
            <a:off x="9782251" y="1638605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9" name="Text 23"/>
          <p:cNvSpPr/>
          <p:nvPr/>
        </p:nvSpPr>
        <p:spPr>
          <a:xfrm>
            <a:off x="8229600" y="2807208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32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Dedup</a:t>
            </a:r>
            <a:endParaRPr lang="en-US" sz="1400" dirty="0"/>
          </a:p>
        </p:txBody>
      </p:sp>
      <p:sp>
        <p:nvSpPr>
          <p:cNvPr id="30" name="Text 24"/>
          <p:cNvSpPr/>
          <p:nvPr/>
        </p:nvSpPr>
        <p:spPr>
          <a:xfrm>
            <a:off x="8229600" y="3136392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 identical findings</a:t>
            </a:r>
            <a:endParaRPr lang="en-US" sz="1050" dirty="0"/>
          </a:p>
        </p:txBody>
      </p:sp>
      <p:sp>
        <p:nvSpPr>
          <p:cNvPr id="31" name="Shape 25"/>
          <p:cNvSpPr/>
          <p:nvPr/>
        </p:nvSpPr>
        <p:spPr>
          <a:xfrm>
            <a:off x="1234440" y="4023360"/>
            <a:ext cx="960120" cy="9601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2" name="Image 4" descr="/home/claude/codesentry/icon_chart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64869" y="4253789"/>
            <a:ext cx="499262" cy="499262"/>
          </a:xfrm>
          <a:prstGeom prst="rect">
            <a:avLst/>
          </a:prstGeom>
        </p:spPr>
      </p:pic>
      <p:sp>
        <p:nvSpPr>
          <p:cNvPr id="33" name="Shape 26"/>
          <p:cNvSpPr/>
          <p:nvPr/>
        </p:nvSpPr>
        <p:spPr>
          <a:xfrm>
            <a:off x="1964131" y="3924605"/>
            <a:ext cx="329184" cy="329184"/>
          </a:xfrm>
          <a:prstGeom prst="ellipse">
            <a:avLst/>
          </a:prstGeom>
          <a:solidFill>
            <a:srgbClr val="3DDC97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34" name="Text 27"/>
          <p:cNvSpPr/>
          <p:nvPr/>
        </p:nvSpPr>
        <p:spPr>
          <a:xfrm>
            <a:off x="1964131" y="3924605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35" name="Text 28"/>
          <p:cNvSpPr/>
          <p:nvPr/>
        </p:nvSpPr>
        <p:spPr>
          <a:xfrm>
            <a:off x="411480" y="5093208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32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Score</a:t>
            </a:r>
            <a:endParaRPr lang="en-US" sz="1400" dirty="0"/>
          </a:p>
        </p:txBody>
      </p:sp>
      <p:sp>
        <p:nvSpPr>
          <p:cNvPr id="36" name="Text 29"/>
          <p:cNvSpPr/>
          <p:nvPr/>
        </p:nvSpPr>
        <p:spPr>
          <a:xfrm>
            <a:off x="411480" y="5422392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0–100</a:t>
            </a:r>
            <a:endParaRPr lang="en-US" sz="1050" dirty="0"/>
          </a:p>
        </p:txBody>
      </p:sp>
      <p:sp>
        <p:nvSpPr>
          <p:cNvPr id="37" name="Text 30"/>
          <p:cNvSpPr/>
          <p:nvPr/>
        </p:nvSpPr>
        <p:spPr>
          <a:xfrm>
            <a:off x="2788920" y="43205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AAB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38" name="Shape 31"/>
          <p:cNvSpPr/>
          <p:nvPr/>
        </p:nvSpPr>
        <p:spPr>
          <a:xfrm>
            <a:off x="3840480" y="4023360"/>
            <a:ext cx="960120" cy="9601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9" name="Image 5" descr="/home/claude/codesentry/icon_brain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70909" y="4253789"/>
            <a:ext cx="499262" cy="499262"/>
          </a:xfrm>
          <a:prstGeom prst="rect">
            <a:avLst/>
          </a:prstGeom>
        </p:spPr>
      </p:pic>
      <p:sp>
        <p:nvSpPr>
          <p:cNvPr id="40" name="Shape 32"/>
          <p:cNvSpPr/>
          <p:nvPr/>
        </p:nvSpPr>
        <p:spPr>
          <a:xfrm>
            <a:off x="4570171" y="3924605"/>
            <a:ext cx="329184" cy="329184"/>
          </a:xfrm>
          <a:prstGeom prst="ellipse">
            <a:avLst/>
          </a:prstGeom>
          <a:solidFill>
            <a:srgbClr val="3DDC97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41" name="Text 33"/>
          <p:cNvSpPr/>
          <p:nvPr/>
        </p:nvSpPr>
        <p:spPr>
          <a:xfrm>
            <a:off x="4570171" y="3924605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42" name="Text 34"/>
          <p:cNvSpPr/>
          <p:nvPr/>
        </p:nvSpPr>
        <p:spPr>
          <a:xfrm>
            <a:off x="3017520" y="5093208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32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Enrich</a:t>
            </a:r>
            <a:endParaRPr lang="en-US" sz="1400" dirty="0"/>
          </a:p>
        </p:txBody>
      </p:sp>
      <p:sp>
        <p:nvSpPr>
          <p:cNvPr id="43" name="Text 35"/>
          <p:cNvSpPr/>
          <p:nvPr/>
        </p:nvSpPr>
        <p:spPr>
          <a:xfrm>
            <a:off x="3017520" y="5422392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 LLM narrative</a:t>
            </a:r>
            <a:endParaRPr lang="en-US" sz="1050" dirty="0"/>
          </a:p>
        </p:txBody>
      </p:sp>
      <p:sp>
        <p:nvSpPr>
          <p:cNvPr id="44" name="Text 36"/>
          <p:cNvSpPr/>
          <p:nvPr/>
        </p:nvSpPr>
        <p:spPr>
          <a:xfrm>
            <a:off x="5394960" y="43205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AAB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45" name="Shape 37"/>
          <p:cNvSpPr/>
          <p:nvPr/>
        </p:nvSpPr>
        <p:spPr>
          <a:xfrm>
            <a:off x="6446520" y="4023360"/>
            <a:ext cx="960120" cy="9601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46" name="Image 6" descr="/home/claude/codesentry/icon_file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76949" y="4253789"/>
            <a:ext cx="499262" cy="499262"/>
          </a:xfrm>
          <a:prstGeom prst="rect">
            <a:avLst/>
          </a:prstGeom>
        </p:spPr>
      </p:pic>
      <p:sp>
        <p:nvSpPr>
          <p:cNvPr id="47" name="Shape 38"/>
          <p:cNvSpPr/>
          <p:nvPr/>
        </p:nvSpPr>
        <p:spPr>
          <a:xfrm>
            <a:off x="7176211" y="3924605"/>
            <a:ext cx="329184" cy="329184"/>
          </a:xfrm>
          <a:prstGeom prst="ellipse">
            <a:avLst/>
          </a:prstGeom>
          <a:solidFill>
            <a:srgbClr val="3DDC97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48" name="Text 39"/>
          <p:cNvSpPr/>
          <p:nvPr/>
        </p:nvSpPr>
        <p:spPr>
          <a:xfrm>
            <a:off x="7176211" y="3924605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  <p:sp>
        <p:nvSpPr>
          <p:cNvPr id="49" name="Text 40"/>
          <p:cNvSpPr/>
          <p:nvPr/>
        </p:nvSpPr>
        <p:spPr>
          <a:xfrm>
            <a:off x="5623560" y="5093208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32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</a:t>
            </a:r>
            <a:endParaRPr lang="en-US" sz="1400" dirty="0"/>
          </a:p>
        </p:txBody>
      </p:sp>
      <p:sp>
        <p:nvSpPr>
          <p:cNvPr id="50" name="Text 41"/>
          <p:cNvSpPr/>
          <p:nvPr/>
        </p:nvSpPr>
        <p:spPr>
          <a:xfrm>
            <a:off x="5623560" y="5422392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Self-contained HTML</a:t>
            </a:r>
            <a:endParaRPr lang="en-US" sz="1050" dirty="0"/>
          </a:p>
        </p:txBody>
      </p:sp>
      <p:sp>
        <p:nvSpPr>
          <p:cNvPr id="51" name="Text 42"/>
          <p:cNvSpPr/>
          <p:nvPr/>
        </p:nvSpPr>
        <p:spPr>
          <a:xfrm>
            <a:off x="8001000" y="43205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AAB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52" name="Shape 43"/>
          <p:cNvSpPr/>
          <p:nvPr/>
        </p:nvSpPr>
        <p:spPr>
          <a:xfrm>
            <a:off x="9052560" y="4023360"/>
            <a:ext cx="960120" cy="9601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53" name="Image 7" descr="/home/claude/codesentry/icon_database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82989" y="4253789"/>
            <a:ext cx="499262" cy="499262"/>
          </a:xfrm>
          <a:prstGeom prst="rect">
            <a:avLst/>
          </a:prstGeom>
        </p:spPr>
      </p:pic>
      <p:sp>
        <p:nvSpPr>
          <p:cNvPr id="54" name="Shape 44"/>
          <p:cNvSpPr/>
          <p:nvPr/>
        </p:nvSpPr>
        <p:spPr>
          <a:xfrm>
            <a:off x="9782251" y="3924605"/>
            <a:ext cx="329184" cy="329184"/>
          </a:xfrm>
          <a:prstGeom prst="ellipse">
            <a:avLst/>
          </a:prstGeom>
          <a:solidFill>
            <a:srgbClr val="3DDC97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55" name="Text 45"/>
          <p:cNvSpPr/>
          <p:nvPr/>
        </p:nvSpPr>
        <p:spPr>
          <a:xfrm>
            <a:off x="9782251" y="3924605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100" dirty="0"/>
          </a:p>
        </p:txBody>
      </p:sp>
      <p:sp>
        <p:nvSpPr>
          <p:cNvPr id="56" name="Text 46"/>
          <p:cNvSpPr/>
          <p:nvPr/>
        </p:nvSpPr>
        <p:spPr>
          <a:xfrm>
            <a:off x="8229600" y="5093208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32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</a:t>
            </a:r>
            <a:endParaRPr lang="en-US" sz="1400" dirty="0"/>
          </a:p>
        </p:txBody>
      </p:sp>
      <p:sp>
        <p:nvSpPr>
          <p:cNvPr id="57" name="Text 47"/>
          <p:cNvSpPr/>
          <p:nvPr/>
        </p:nvSpPr>
        <p:spPr>
          <a:xfrm>
            <a:off x="8229600" y="5422392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/ PostgreSQL</a:t>
            </a:r>
            <a:endParaRPr lang="en-US" sz="1050" dirty="0"/>
          </a:p>
        </p:txBody>
      </p:sp>
      <p:sp>
        <p:nvSpPr>
          <p:cNvPr id="58" name="Text 48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CodeSentry — Source Code Security Scanner</a:t>
            </a:r>
            <a:endParaRPr lang="en-US" sz="1000" dirty="0"/>
          </a:p>
        </p:txBody>
      </p:sp>
      <p:sp>
        <p:nvSpPr>
          <p:cNvPr id="59" name="Text 49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Input &amp; Safe Ingestion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5486400" cy="1051560"/>
          </a:xfrm>
          <a:prstGeom prst="roundRect">
            <a:avLst>
              <a:gd name="adj" fmla="val 6957"/>
            </a:avLst>
          </a:prstGeom>
          <a:solidFill>
            <a:srgbClr val="F4F6FC"/>
          </a:solidFill>
          <a:ln/>
        </p:spPr>
      </p:sp>
      <p:sp>
        <p:nvSpPr>
          <p:cNvPr id="4" name="Shape 2"/>
          <p:cNvSpPr/>
          <p:nvPr/>
        </p:nvSpPr>
        <p:spPr>
          <a:xfrm>
            <a:off x="749808" y="1581912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5" name="Image 0" descr="/home/claude/codesentry/icon_uploa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3427" y="1735531"/>
            <a:ext cx="332842" cy="33284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600200" y="1499616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32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ZIP Upload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1600200" y="1828800"/>
            <a:ext cx="4251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 (python cli.py) or REST API POST /scans/upload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548640" y="2606040"/>
            <a:ext cx="5486400" cy="1051560"/>
          </a:xfrm>
          <a:prstGeom prst="roundRect">
            <a:avLst>
              <a:gd name="adj" fmla="val 6957"/>
            </a:avLst>
          </a:prstGeom>
          <a:solidFill>
            <a:srgbClr val="F4F6FC"/>
          </a:solidFill>
          <a:ln/>
        </p:spPr>
      </p:sp>
      <p:sp>
        <p:nvSpPr>
          <p:cNvPr id="9" name="Shape 6"/>
          <p:cNvSpPr/>
          <p:nvPr/>
        </p:nvSpPr>
        <p:spPr>
          <a:xfrm>
            <a:off x="749808" y="2816352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0" name="Image 1" descr="/home/claude/codesentry/icon_box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3427" y="2969971"/>
            <a:ext cx="332842" cy="33284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600200" y="2734056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32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Directory</a:t>
            </a:r>
            <a:endParaRPr lang="en-US" sz="1450" dirty="0"/>
          </a:p>
        </p:txBody>
      </p:sp>
      <p:sp>
        <p:nvSpPr>
          <p:cNvPr id="12" name="Text 8"/>
          <p:cNvSpPr/>
          <p:nvPr/>
        </p:nvSpPr>
        <p:spPr>
          <a:xfrm>
            <a:off x="1600200" y="3063240"/>
            <a:ext cx="4251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 a path directly via CLI or POST /scans/path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548640" y="3840480"/>
            <a:ext cx="5486400" cy="1051560"/>
          </a:xfrm>
          <a:prstGeom prst="roundRect">
            <a:avLst>
              <a:gd name="adj" fmla="val 6957"/>
            </a:avLst>
          </a:prstGeom>
          <a:solidFill>
            <a:srgbClr val="F4F6FC"/>
          </a:solidFill>
          <a:ln/>
        </p:spPr>
      </p:sp>
      <p:sp>
        <p:nvSpPr>
          <p:cNvPr id="14" name="Shape 10"/>
          <p:cNvSpPr/>
          <p:nvPr/>
        </p:nvSpPr>
        <p:spPr>
          <a:xfrm>
            <a:off x="749808" y="4050792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5" name="Image 2" descr="/home/claude/codesentry/icon_sitemap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3427" y="4204411"/>
            <a:ext cx="332842" cy="332842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600200" y="3968496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32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URL</a:t>
            </a:r>
            <a:endParaRPr lang="en-US" sz="1450" dirty="0"/>
          </a:p>
        </p:txBody>
      </p:sp>
      <p:sp>
        <p:nvSpPr>
          <p:cNvPr id="17" name="Text 12"/>
          <p:cNvSpPr/>
          <p:nvPr/>
        </p:nvSpPr>
        <p:spPr>
          <a:xfrm>
            <a:off x="1600200" y="4297680"/>
            <a:ext cx="4251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https:// only, shallow-cloned with --depth 1</a:t>
            </a:r>
            <a:endParaRPr lang="en-US" sz="1100" dirty="0"/>
          </a:p>
        </p:txBody>
      </p:sp>
      <p:sp>
        <p:nvSpPr>
          <p:cNvPr id="18" name="Shape 13"/>
          <p:cNvSpPr/>
          <p:nvPr/>
        </p:nvSpPr>
        <p:spPr>
          <a:xfrm>
            <a:off x="6400800" y="1371600"/>
            <a:ext cx="5212080" cy="4709160"/>
          </a:xfrm>
          <a:prstGeom prst="roundRect">
            <a:avLst>
              <a:gd name="adj" fmla="val 1942"/>
            </a:avLst>
          </a:prstGeom>
          <a:solidFill>
            <a:srgbClr val="1E2761"/>
          </a:solidFill>
          <a:ln/>
        </p:spPr>
      </p:sp>
      <p:sp>
        <p:nvSpPr>
          <p:cNvPr id="19" name="Shape 14"/>
          <p:cNvSpPr/>
          <p:nvPr/>
        </p:nvSpPr>
        <p:spPr>
          <a:xfrm>
            <a:off x="6720840" y="1664208"/>
            <a:ext cx="594360" cy="594360"/>
          </a:xfrm>
          <a:prstGeom prst="ellipse">
            <a:avLst/>
          </a:prstGeom>
          <a:solidFill>
            <a:srgbClr val="3DDC97"/>
          </a:solidFill>
          <a:ln/>
        </p:spPr>
      </p:sp>
      <p:pic>
        <p:nvPicPr>
          <p:cNvPr id="20" name="Image 3" descr="/home/claude/codesentry/icon_loc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4571" y="1797939"/>
            <a:ext cx="326898" cy="326898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7452360" y="1691640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Extraction Safety Guardrails</a:t>
            </a:r>
            <a:endParaRPr lang="en-US" sz="1550" dirty="0"/>
          </a:p>
        </p:txBody>
      </p:sp>
      <p:sp>
        <p:nvSpPr>
          <p:cNvPr id="22" name="Shape 16"/>
          <p:cNvSpPr/>
          <p:nvPr/>
        </p:nvSpPr>
        <p:spPr>
          <a:xfrm>
            <a:off x="6720840" y="2569464"/>
            <a:ext cx="100584" cy="100584"/>
          </a:xfrm>
          <a:prstGeom prst="ellipse">
            <a:avLst/>
          </a:prstGeom>
          <a:solidFill>
            <a:srgbClr val="3DDC97"/>
          </a:solidFill>
          <a:ln/>
        </p:spPr>
      </p:sp>
      <p:sp>
        <p:nvSpPr>
          <p:cNvPr id="23" name="Text 17"/>
          <p:cNvSpPr/>
          <p:nvPr/>
        </p:nvSpPr>
        <p:spPr>
          <a:xfrm>
            <a:off x="6967728" y="2441448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E4E9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Rejects path traversal — absolute paths, drive letters, ".." segments</a:t>
            </a:r>
            <a:endParaRPr lang="en-US" sz="1150" dirty="0"/>
          </a:p>
        </p:txBody>
      </p:sp>
      <p:sp>
        <p:nvSpPr>
          <p:cNvPr id="24" name="Shape 18"/>
          <p:cNvSpPr/>
          <p:nvPr/>
        </p:nvSpPr>
        <p:spPr>
          <a:xfrm>
            <a:off x="6720840" y="3227832"/>
            <a:ext cx="100584" cy="100584"/>
          </a:xfrm>
          <a:prstGeom prst="ellipse">
            <a:avLst/>
          </a:prstGeom>
          <a:solidFill>
            <a:srgbClr val="3DDC97"/>
          </a:solidFill>
          <a:ln/>
        </p:spPr>
      </p:sp>
      <p:sp>
        <p:nvSpPr>
          <p:cNvPr id="25" name="Text 19"/>
          <p:cNvSpPr/>
          <p:nvPr/>
        </p:nvSpPr>
        <p:spPr>
          <a:xfrm>
            <a:off x="6967728" y="3099816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E4E9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Zip-bomb guard via compression-ratio cap</a:t>
            </a:r>
            <a:endParaRPr lang="en-US" sz="1150" dirty="0"/>
          </a:p>
        </p:txBody>
      </p:sp>
      <p:sp>
        <p:nvSpPr>
          <p:cNvPr id="26" name="Shape 20"/>
          <p:cNvSpPr/>
          <p:nvPr/>
        </p:nvSpPr>
        <p:spPr>
          <a:xfrm>
            <a:off x="6720840" y="3886200"/>
            <a:ext cx="100584" cy="100584"/>
          </a:xfrm>
          <a:prstGeom prst="ellipse">
            <a:avLst/>
          </a:prstGeom>
          <a:solidFill>
            <a:srgbClr val="3DDC97"/>
          </a:solidFill>
          <a:ln/>
        </p:spPr>
      </p:sp>
      <p:sp>
        <p:nvSpPr>
          <p:cNvPr id="27" name="Text 21"/>
          <p:cNvSpPr/>
          <p:nvPr/>
        </p:nvSpPr>
        <p:spPr>
          <a:xfrm>
            <a:off x="6967728" y="3758184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E4E9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Per-file, total-extracted, and file-count size caps</a:t>
            </a:r>
            <a:endParaRPr lang="en-US" sz="1150" dirty="0"/>
          </a:p>
        </p:txBody>
      </p:sp>
      <p:sp>
        <p:nvSpPr>
          <p:cNvPr id="28" name="Shape 22"/>
          <p:cNvSpPr/>
          <p:nvPr/>
        </p:nvSpPr>
        <p:spPr>
          <a:xfrm>
            <a:off x="6720840" y="4544568"/>
            <a:ext cx="100584" cy="100584"/>
          </a:xfrm>
          <a:prstGeom prst="ellipse">
            <a:avLst/>
          </a:prstGeom>
          <a:solidFill>
            <a:srgbClr val="3DDC97"/>
          </a:solidFill>
          <a:ln/>
        </p:spPr>
      </p:sp>
      <p:sp>
        <p:nvSpPr>
          <p:cNvPr id="29" name="Text 23"/>
          <p:cNvSpPr/>
          <p:nvPr/>
        </p:nvSpPr>
        <p:spPr>
          <a:xfrm>
            <a:off x="6967728" y="4416552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E4E9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Blocks executable/binary extensions from ever reaching disk</a:t>
            </a:r>
            <a:endParaRPr lang="en-US" sz="1150" dirty="0"/>
          </a:p>
        </p:txBody>
      </p:sp>
      <p:sp>
        <p:nvSpPr>
          <p:cNvPr id="30" name="Shape 24"/>
          <p:cNvSpPr/>
          <p:nvPr/>
        </p:nvSpPr>
        <p:spPr>
          <a:xfrm>
            <a:off x="6720840" y="5202936"/>
            <a:ext cx="100584" cy="100584"/>
          </a:xfrm>
          <a:prstGeom prst="ellipse">
            <a:avLst/>
          </a:prstGeom>
          <a:solidFill>
            <a:srgbClr val="3DDC97"/>
          </a:solidFill>
          <a:ln/>
        </p:spPr>
      </p:sp>
      <p:sp>
        <p:nvSpPr>
          <p:cNvPr id="31" name="Text 25"/>
          <p:cNvSpPr/>
          <p:nvPr/>
        </p:nvSpPr>
        <p:spPr>
          <a:xfrm>
            <a:off x="6967728" y="5074920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E4E9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Skips noise directories (.git, node_modules, venv, dist)</a:t>
            </a:r>
            <a:endParaRPr lang="en-US" sz="1150" dirty="0"/>
          </a:p>
        </p:txBody>
      </p:sp>
      <p:sp>
        <p:nvSpPr>
          <p:cNvPr id="32" name="Shape 26"/>
          <p:cNvSpPr/>
          <p:nvPr/>
        </p:nvSpPr>
        <p:spPr>
          <a:xfrm>
            <a:off x="6720840" y="5861304"/>
            <a:ext cx="100584" cy="100584"/>
          </a:xfrm>
          <a:prstGeom prst="ellipse">
            <a:avLst/>
          </a:prstGeom>
          <a:solidFill>
            <a:srgbClr val="3DDC97"/>
          </a:solidFill>
          <a:ln/>
        </p:spPr>
      </p:sp>
      <p:sp>
        <p:nvSpPr>
          <p:cNvPr id="33" name="Text 27"/>
          <p:cNvSpPr/>
          <p:nvPr/>
        </p:nvSpPr>
        <p:spPr>
          <a:xfrm>
            <a:off x="6967728" y="5733288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E4E9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validation: extension, non-empty, max size</a:t>
            </a:r>
            <a:endParaRPr lang="en-US" sz="1150" dirty="0"/>
          </a:p>
        </p:txBody>
      </p:sp>
      <p:sp>
        <p:nvSpPr>
          <p:cNvPr id="34" name="Text 28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CodeSentry — Source Code Security Scanner</a:t>
            </a:r>
            <a:endParaRPr lang="en-US" sz="1000" dirty="0"/>
          </a:p>
        </p:txBody>
      </p:sp>
      <p:sp>
        <p:nvSpPr>
          <p:cNvPr id="35" name="Text 29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Pluggable Security Scanners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scanner runs independently, toggle-able, with hard timeouts and shell=False execution.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486400" cy="2148840"/>
          </a:xfrm>
          <a:prstGeom prst="roundRect">
            <a:avLst>
              <a:gd name="adj" fmla="val 4255"/>
            </a:avLst>
          </a:prstGeom>
          <a:solidFill>
            <a:srgbClr val="F4F6FC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1874520"/>
            <a:ext cx="777240" cy="7772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6" name="Image 0" descr="/home/claude/codesentry/icon_bu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9498" y="2061058"/>
            <a:ext cx="404165" cy="40416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83080" y="1856232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32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Semgrep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783080" y="2286000"/>
            <a:ext cx="4023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application security testing (SAST) — code-level vulnerability rules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822960" y="329184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7A84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Auto-detected from project's tools/ folder — no PATH setup needed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6309360" y="1600200"/>
            <a:ext cx="5486400" cy="2148840"/>
          </a:xfrm>
          <a:prstGeom prst="roundRect">
            <a:avLst>
              <a:gd name="adj" fmla="val 4255"/>
            </a:avLst>
          </a:prstGeom>
          <a:solidFill>
            <a:srgbClr val="F4F6FC"/>
          </a:solidFill>
          <a:ln/>
        </p:spPr>
      </p:sp>
      <p:sp>
        <p:nvSpPr>
          <p:cNvPr id="11" name="Shape 8"/>
          <p:cNvSpPr/>
          <p:nvPr/>
        </p:nvSpPr>
        <p:spPr>
          <a:xfrm>
            <a:off x="6583680" y="1874520"/>
            <a:ext cx="777240" cy="7772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2" name="Image 1" descr="/home/claude/codesentry/icon_ke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70218" y="2061058"/>
            <a:ext cx="404165" cy="404165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543800" y="1856232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32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Gitleaks</a:t>
            </a:r>
            <a:endParaRPr lang="en-US" sz="1700" dirty="0"/>
          </a:p>
        </p:txBody>
      </p:sp>
      <p:sp>
        <p:nvSpPr>
          <p:cNvPr id="14" name="Text 10"/>
          <p:cNvSpPr/>
          <p:nvPr/>
        </p:nvSpPr>
        <p:spPr>
          <a:xfrm>
            <a:off x="7543800" y="2286000"/>
            <a:ext cx="4023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Hardcoded secret and credential detection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6583680" y="329184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7A84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Auto-detected from project's tools/ folder — no PATH setup needed</a:t>
            </a:r>
            <a:endParaRPr lang="en-US" sz="950" dirty="0"/>
          </a:p>
        </p:txBody>
      </p:sp>
      <p:sp>
        <p:nvSpPr>
          <p:cNvPr id="16" name="Shape 12"/>
          <p:cNvSpPr/>
          <p:nvPr/>
        </p:nvSpPr>
        <p:spPr>
          <a:xfrm>
            <a:off x="548640" y="4023360"/>
            <a:ext cx="5486400" cy="2148840"/>
          </a:xfrm>
          <a:prstGeom prst="roundRect">
            <a:avLst>
              <a:gd name="adj" fmla="val 4255"/>
            </a:avLst>
          </a:prstGeom>
          <a:solidFill>
            <a:srgbClr val="F4F6FC"/>
          </a:solidFill>
          <a:ln/>
        </p:spPr>
      </p:sp>
      <p:sp>
        <p:nvSpPr>
          <p:cNvPr id="17" name="Shape 13"/>
          <p:cNvSpPr/>
          <p:nvPr/>
        </p:nvSpPr>
        <p:spPr>
          <a:xfrm>
            <a:off x="822960" y="4297680"/>
            <a:ext cx="777240" cy="7772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8" name="Image 2" descr="/home/claude/codesentry/icon_box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9498" y="4484218"/>
            <a:ext cx="404165" cy="404165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783080" y="4279392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32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Trivy</a:t>
            </a:r>
            <a:endParaRPr lang="en-US" sz="1700" dirty="0"/>
          </a:p>
        </p:txBody>
      </p:sp>
      <p:sp>
        <p:nvSpPr>
          <p:cNvPr id="20" name="Text 15"/>
          <p:cNvSpPr/>
          <p:nvPr/>
        </p:nvSpPr>
        <p:spPr>
          <a:xfrm>
            <a:off x="1783080" y="4709160"/>
            <a:ext cx="4023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Dependency vulnerabilities + container / IaC misconfigurations</a:t>
            </a:r>
            <a:endParaRPr lang="en-US" sz="1200" dirty="0"/>
          </a:p>
        </p:txBody>
      </p:sp>
      <p:sp>
        <p:nvSpPr>
          <p:cNvPr id="21" name="Text 16"/>
          <p:cNvSpPr/>
          <p:nvPr/>
        </p:nvSpPr>
        <p:spPr>
          <a:xfrm>
            <a:off x="822960" y="571500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7A84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Auto-detected from project's tools/ folder — no PATH setup needed</a:t>
            </a:r>
            <a:endParaRPr lang="en-US" sz="950" dirty="0"/>
          </a:p>
        </p:txBody>
      </p:sp>
      <p:sp>
        <p:nvSpPr>
          <p:cNvPr id="22" name="Shape 17"/>
          <p:cNvSpPr/>
          <p:nvPr/>
        </p:nvSpPr>
        <p:spPr>
          <a:xfrm>
            <a:off x="6309360" y="4023360"/>
            <a:ext cx="5486400" cy="2148840"/>
          </a:xfrm>
          <a:prstGeom prst="roundRect">
            <a:avLst>
              <a:gd name="adj" fmla="val 4255"/>
            </a:avLst>
          </a:prstGeom>
          <a:solidFill>
            <a:srgbClr val="F4F6FC"/>
          </a:solidFill>
          <a:ln/>
        </p:spPr>
      </p:sp>
      <p:sp>
        <p:nvSpPr>
          <p:cNvPr id="23" name="Shape 18"/>
          <p:cNvSpPr/>
          <p:nvPr/>
        </p:nvSpPr>
        <p:spPr>
          <a:xfrm>
            <a:off x="6583680" y="4297680"/>
            <a:ext cx="777240" cy="7772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4" name="Image 3" descr="/home/claude/codesentry/icon_databas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70218" y="4484218"/>
            <a:ext cx="404165" cy="404165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7543800" y="4279392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32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OSV-Scanner</a:t>
            </a:r>
            <a:endParaRPr lang="en-US" sz="1700" dirty="0"/>
          </a:p>
        </p:txBody>
      </p:sp>
      <p:sp>
        <p:nvSpPr>
          <p:cNvPr id="26" name="Text 20"/>
          <p:cNvSpPr/>
          <p:nvPr/>
        </p:nvSpPr>
        <p:spPr>
          <a:xfrm>
            <a:off x="7543800" y="4709160"/>
            <a:ext cx="4023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Open-source dependency vulnerability database lookups</a:t>
            </a:r>
            <a:endParaRPr lang="en-US" sz="1200" dirty="0"/>
          </a:p>
        </p:txBody>
      </p:sp>
      <p:sp>
        <p:nvSpPr>
          <p:cNvPr id="27" name="Text 21"/>
          <p:cNvSpPr/>
          <p:nvPr/>
        </p:nvSpPr>
        <p:spPr>
          <a:xfrm>
            <a:off x="6583680" y="571500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7A84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Auto-detected from project's tools/ folder — no PATH setup needed</a:t>
            </a:r>
            <a:endParaRPr lang="en-US" sz="950" dirty="0"/>
          </a:p>
        </p:txBody>
      </p:sp>
      <p:sp>
        <p:nvSpPr>
          <p:cNvPr id="28" name="Text 22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CodeSentry — Source Code Security Scanner</a:t>
            </a:r>
            <a:endParaRPr lang="en-US" sz="1000" dirty="0"/>
          </a:p>
        </p:txBody>
      </p:sp>
      <p:sp>
        <p:nvSpPr>
          <p:cNvPr id="29" name="Text 23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Normalization &amp; Deterministic Risk Scoring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48640" y="123444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NORMALIZATION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664208"/>
            <a:ext cx="91440" cy="914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545336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32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scanner output mapped to one common Finding schema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548640" y="2286000"/>
            <a:ext cx="91440" cy="914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2167128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32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CWE → OWASP Top 10 (2021) category mapping (A01–A10)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48640" y="2907792"/>
            <a:ext cx="91440" cy="914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2788920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32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Severity, confidence, CVSS, fixed-version, and a ≤10-line snippet extracted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48640" y="3529584"/>
            <a:ext cx="91440" cy="914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3410712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32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Secrets masked everywhere — raw values are never stored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48640" y="4151376"/>
            <a:ext cx="91440" cy="914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4032504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32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Identical findings (rule + file + line) deduplicated and counted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989320" y="1280160"/>
            <a:ext cx="0" cy="4709160"/>
          </a:xfrm>
          <a:prstGeom prst="line">
            <a:avLst/>
          </a:prstGeom>
          <a:noFill/>
          <a:ln w="12700">
            <a:solidFill>
              <a:srgbClr val="DCE1F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09360" y="123444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SCORING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309360" y="1536192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0–100, exponential saturation — one Critical dominates a pile of Lows.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309360" y="2103120"/>
            <a:ext cx="1417320" cy="365760"/>
          </a:xfrm>
          <a:prstGeom prst="roundRect">
            <a:avLst>
              <a:gd name="adj" fmla="val 15000"/>
            </a:avLst>
          </a:prstGeom>
          <a:solidFill>
            <a:srgbClr val="C0392B"/>
          </a:solidFill>
          <a:ln/>
        </p:spPr>
      </p:sp>
      <p:sp>
        <p:nvSpPr>
          <p:cNvPr id="18" name="Text 16"/>
          <p:cNvSpPr/>
          <p:nvPr/>
        </p:nvSpPr>
        <p:spPr>
          <a:xfrm>
            <a:off x="6309360" y="210312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7863840" y="210312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32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Floors project score at 70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309360" y="2606040"/>
            <a:ext cx="1417320" cy="365760"/>
          </a:xfrm>
          <a:prstGeom prst="roundRect">
            <a:avLst>
              <a:gd name="adj" fmla="val 15000"/>
            </a:avLst>
          </a:prstGeom>
          <a:solidFill>
            <a:srgbClr val="E07B39"/>
          </a:solidFill>
          <a:ln/>
        </p:spPr>
      </p:sp>
      <p:sp>
        <p:nvSpPr>
          <p:cNvPr id="21" name="Text 19"/>
          <p:cNvSpPr/>
          <p:nvPr/>
        </p:nvSpPr>
        <p:spPr>
          <a:xfrm>
            <a:off x="6309360" y="260604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7863840" y="260604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32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Floors project score at 50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309360" y="3108960"/>
            <a:ext cx="1417320" cy="365760"/>
          </a:xfrm>
          <a:prstGeom prst="roundRect">
            <a:avLst>
              <a:gd name="adj" fmla="val 15000"/>
            </a:avLst>
          </a:prstGeom>
          <a:solidFill>
            <a:srgbClr val="E5B92A"/>
          </a:solidFill>
          <a:ln/>
        </p:spPr>
      </p:sp>
      <p:sp>
        <p:nvSpPr>
          <p:cNvPr id="24" name="Text 22"/>
          <p:cNvSpPr/>
          <p:nvPr/>
        </p:nvSpPr>
        <p:spPr>
          <a:xfrm>
            <a:off x="6309360" y="310896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309360" y="3611880"/>
            <a:ext cx="1417320" cy="365760"/>
          </a:xfrm>
          <a:prstGeom prst="roundRect">
            <a:avLst>
              <a:gd name="adj" fmla="val 15000"/>
            </a:avLst>
          </a:prstGeom>
          <a:solidFill>
            <a:srgbClr val="3D8B62"/>
          </a:solidFill>
          <a:ln/>
        </p:spPr>
      </p:sp>
      <p:sp>
        <p:nvSpPr>
          <p:cNvPr id="26" name="Text 24"/>
          <p:cNvSpPr/>
          <p:nvPr/>
        </p:nvSpPr>
        <p:spPr>
          <a:xfrm>
            <a:off x="6309360" y="361188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6309360" y="425196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Per-finding score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6309360" y="4526280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32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Severity base × CVSS boost, discounted by scanner confidence (H/M/L)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309360" y="512064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score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6309360" y="5394960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32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Severity-weighted aggregation across all findings — never quite reaches 100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CodeSentry — Source Code Security Scanner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Optional LLM Enrichment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1064240" cy="777240"/>
          </a:xfrm>
          <a:prstGeom prst="roundRect">
            <a:avLst>
              <a:gd name="adj" fmla="val 11765"/>
            </a:avLst>
          </a:prstGeom>
          <a:solidFill>
            <a:srgbClr val="141B4D"/>
          </a:solidFill>
          <a:ln w="15875">
            <a:solidFill>
              <a:srgbClr val="3DDC9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298448"/>
            <a:ext cx="457200" cy="457200"/>
          </a:xfrm>
          <a:prstGeom prst="ellipse">
            <a:avLst/>
          </a:prstGeom>
          <a:solidFill>
            <a:srgbClr val="3DDC97"/>
          </a:solidFill>
          <a:ln/>
        </p:spPr>
      </p:sp>
      <p:pic>
        <p:nvPicPr>
          <p:cNvPr id="5" name="Image 0" descr="/home/claude/codesentry/icon_lo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0110" y="1401318"/>
            <a:ext cx="251460" cy="2514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17320" y="1143000"/>
            <a:ext cx="9966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LLM never sees your source code — only normalized findings with ≤10-line snippets.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548640" y="2148840"/>
            <a:ext cx="5440680" cy="1965960"/>
          </a:xfrm>
          <a:prstGeom prst="roundRect">
            <a:avLst>
              <a:gd name="adj" fmla="val 4651"/>
            </a:avLst>
          </a:prstGeom>
          <a:solidFill>
            <a:srgbClr val="141B4D"/>
          </a:solidFill>
          <a:ln/>
        </p:spPr>
      </p:sp>
      <p:sp>
        <p:nvSpPr>
          <p:cNvPr id="8" name="Shape 5"/>
          <p:cNvSpPr/>
          <p:nvPr/>
        </p:nvSpPr>
        <p:spPr>
          <a:xfrm>
            <a:off x="804672" y="2404872"/>
            <a:ext cx="621792" cy="621792"/>
          </a:xfrm>
          <a:prstGeom prst="ellipse">
            <a:avLst/>
          </a:prstGeom>
          <a:solidFill>
            <a:srgbClr val="3DDC97"/>
          </a:solidFill>
          <a:ln/>
        </p:spPr>
      </p:sp>
      <p:pic>
        <p:nvPicPr>
          <p:cNvPr id="9" name="Image 1" descr="/home/claude/codesentry/icon_chec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4575" y="2544775"/>
            <a:ext cx="341986" cy="34198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554480" y="2368296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Templates First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822960" y="3108960"/>
            <a:ext cx="4892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7CF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SQLi, XSS, command injection, path traversal, hardcoded secrets, weak crypto, insecure deserialization, XXE get free, zero-token deterministic guidance before any LLM call.</a:t>
            </a:r>
            <a:endParaRPr lang="en-US" sz="1050" dirty="0"/>
          </a:p>
        </p:txBody>
      </p:sp>
      <p:sp>
        <p:nvSpPr>
          <p:cNvPr id="12" name="Shape 8"/>
          <p:cNvSpPr/>
          <p:nvPr/>
        </p:nvSpPr>
        <p:spPr>
          <a:xfrm>
            <a:off x="6172200" y="2148840"/>
            <a:ext cx="5440680" cy="1965960"/>
          </a:xfrm>
          <a:prstGeom prst="roundRect">
            <a:avLst>
              <a:gd name="adj" fmla="val 4651"/>
            </a:avLst>
          </a:prstGeom>
          <a:solidFill>
            <a:srgbClr val="141B4D"/>
          </a:solidFill>
          <a:ln/>
        </p:spPr>
      </p:sp>
      <p:sp>
        <p:nvSpPr>
          <p:cNvPr id="13" name="Shape 9"/>
          <p:cNvSpPr/>
          <p:nvPr/>
        </p:nvSpPr>
        <p:spPr>
          <a:xfrm>
            <a:off x="6428232" y="2404872"/>
            <a:ext cx="621792" cy="621792"/>
          </a:xfrm>
          <a:prstGeom prst="ellipse">
            <a:avLst/>
          </a:prstGeom>
          <a:solidFill>
            <a:srgbClr val="3DDC97"/>
          </a:solidFill>
          <a:ln/>
        </p:spPr>
      </p:sp>
      <p:pic>
        <p:nvPicPr>
          <p:cNvPr id="14" name="Image 2" descr="/home/claude/codesentry/icon_layer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8135" y="2544775"/>
            <a:ext cx="341986" cy="341986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7178040" y="2368296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Grouping &amp; Batching</a:t>
            </a:r>
            <a:endParaRPr lang="en-US" sz="1400" dirty="0"/>
          </a:p>
        </p:txBody>
      </p:sp>
      <p:sp>
        <p:nvSpPr>
          <p:cNvPr id="16" name="Text 11"/>
          <p:cNvSpPr/>
          <p:nvPr/>
        </p:nvSpPr>
        <p:spPr>
          <a:xfrm>
            <a:off x="6446520" y="3108960"/>
            <a:ext cx="4892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7CF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findings collapse to one representative + count; batching caps put a hard ceiling on LLM cost.</a:t>
            </a:r>
            <a:endParaRPr lang="en-US" sz="1050" dirty="0"/>
          </a:p>
        </p:txBody>
      </p:sp>
      <p:sp>
        <p:nvSpPr>
          <p:cNvPr id="17" name="Shape 12"/>
          <p:cNvSpPr/>
          <p:nvPr/>
        </p:nvSpPr>
        <p:spPr>
          <a:xfrm>
            <a:off x="548640" y="4297680"/>
            <a:ext cx="5440680" cy="1965960"/>
          </a:xfrm>
          <a:prstGeom prst="roundRect">
            <a:avLst>
              <a:gd name="adj" fmla="val 4651"/>
            </a:avLst>
          </a:prstGeom>
          <a:solidFill>
            <a:srgbClr val="141B4D"/>
          </a:solidFill>
          <a:ln/>
        </p:spPr>
      </p:sp>
      <p:sp>
        <p:nvSpPr>
          <p:cNvPr id="18" name="Shape 13"/>
          <p:cNvSpPr/>
          <p:nvPr/>
        </p:nvSpPr>
        <p:spPr>
          <a:xfrm>
            <a:off x="804672" y="4553712"/>
            <a:ext cx="621792" cy="621792"/>
          </a:xfrm>
          <a:prstGeom prst="ellipse">
            <a:avLst/>
          </a:prstGeom>
          <a:solidFill>
            <a:srgbClr val="3DDC97"/>
          </a:solidFill>
          <a:ln/>
        </p:spPr>
      </p:sp>
      <p:pic>
        <p:nvPicPr>
          <p:cNvPr id="19" name="Image 3" descr="/home/claude/codesentry/icon_databas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4575" y="4693615"/>
            <a:ext cx="341986" cy="341986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1554480" y="4517136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 Caching</a:t>
            </a:r>
            <a:endParaRPr lang="en-US" sz="1400" dirty="0"/>
          </a:p>
        </p:txBody>
      </p:sp>
      <p:sp>
        <p:nvSpPr>
          <p:cNvPr id="21" name="Text 15"/>
          <p:cNvSpPr/>
          <p:nvPr/>
        </p:nvSpPr>
        <p:spPr>
          <a:xfrm>
            <a:off x="822960" y="5257800"/>
            <a:ext cx="4892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7CF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Disk cache keyed by finding IDs + model — re-scans cost nothing.</a:t>
            </a:r>
            <a:endParaRPr lang="en-US" sz="1050" dirty="0"/>
          </a:p>
        </p:txBody>
      </p:sp>
      <p:sp>
        <p:nvSpPr>
          <p:cNvPr id="22" name="Shape 16"/>
          <p:cNvSpPr/>
          <p:nvPr/>
        </p:nvSpPr>
        <p:spPr>
          <a:xfrm>
            <a:off x="6172200" y="4297680"/>
            <a:ext cx="5440680" cy="1965960"/>
          </a:xfrm>
          <a:prstGeom prst="roundRect">
            <a:avLst>
              <a:gd name="adj" fmla="val 4651"/>
            </a:avLst>
          </a:prstGeom>
          <a:solidFill>
            <a:srgbClr val="141B4D"/>
          </a:solidFill>
          <a:ln/>
        </p:spPr>
      </p:sp>
      <p:sp>
        <p:nvSpPr>
          <p:cNvPr id="23" name="Shape 17"/>
          <p:cNvSpPr/>
          <p:nvPr/>
        </p:nvSpPr>
        <p:spPr>
          <a:xfrm>
            <a:off x="6428232" y="4553712"/>
            <a:ext cx="621792" cy="621792"/>
          </a:xfrm>
          <a:prstGeom prst="ellipse">
            <a:avLst/>
          </a:prstGeom>
          <a:solidFill>
            <a:srgbClr val="3DDC97"/>
          </a:solidFill>
          <a:ln/>
        </p:spPr>
      </p:sp>
      <p:pic>
        <p:nvPicPr>
          <p:cNvPr id="24" name="Image 4" descr="/home/claude/codesentry/icon_cube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68135" y="4693615"/>
            <a:ext cx="341986" cy="341986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7178040" y="4517136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Provider-Agnostic</a:t>
            </a:r>
            <a:endParaRPr lang="en-US" sz="1400" dirty="0"/>
          </a:p>
        </p:txBody>
      </p:sp>
      <p:sp>
        <p:nvSpPr>
          <p:cNvPr id="26" name="Text 19"/>
          <p:cNvSpPr/>
          <p:nvPr/>
        </p:nvSpPr>
        <p:spPr>
          <a:xfrm>
            <a:off x="6446520" y="5257800"/>
            <a:ext cx="4892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7CF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OpenAI-compatible API: OpenAI, Azure OpenAI, Ollama, LM Studio, vLLM. LLM_PROVIDER=none runs fully offline.</a:t>
            </a:r>
            <a:endParaRPr lang="en-US" sz="1050" dirty="0"/>
          </a:p>
        </p:txBody>
      </p:sp>
      <p:sp>
        <p:nvSpPr>
          <p:cNvPr id="27" name="Text 20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E9B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CodeSentry — Source Code Security Scanner</a:t>
            </a:r>
            <a:endParaRPr lang="en-US" sz="1000" dirty="0"/>
          </a:p>
        </p:txBody>
      </p:sp>
      <p:sp>
        <p:nvSpPr>
          <p:cNvPr id="28" name="Text 21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E9B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Self-Contained HTML Report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CDN, no external requests, Jinja2 autoescaping — scanned code cannot inject script into the report.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6002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932688" y="1545336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80" dirty="0">
                <a:solidFill>
                  <a:srgbClr val="232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Title, project name, scan date/time, detected stack</a:t>
            </a:r>
            <a:endParaRPr lang="en-US" sz="1080" dirty="0"/>
          </a:p>
        </p:txBody>
      </p:sp>
      <p:sp>
        <p:nvSpPr>
          <p:cNvPr id="7" name="Shape 5"/>
          <p:cNvSpPr/>
          <p:nvPr/>
        </p:nvSpPr>
        <p:spPr>
          <a:xfrm>
            <a:off x="4160520" y="1600200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1E2761"/>
          </a:solidFill>
          <a:ln/>
        </p:spPr>
      </p:sp>
      <p:sp>
        <p:nvSpPr>
          <p:cNvPr id="8" name="Text 6"/>
          <p:cNvSpPr/>
          <p:nvPr/>
        </p:nvSpPr>
        <p:spPr>
          <a:xfrm>
            <a:off x="4160520" y="16002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44568" y="1545336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80" dirty="0">
                <a:solidFill>
                  <a:srgbClr val="232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 + overall risk score with level badge</a:t>
            </a:r>
            <a:endParaRPr lang="en-US" sz="1080" dirty="0"/>
          </a:p>
        </p:txBody>
      </p:sp>
      <p:sp>
        <p:nvSpPr>
          <p:cNvPr id="10" name="Shape 8"/>
          <p:cNvSpPr/>
          <p:nvPr/>
        </p:nvSpPr>
        <p:spPr>
          <a:xfrm>
            <a:off x="7772400" y="1600200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0" y="16002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156448" y="1545336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80" dirty="0">
                <a:solidFill>
                  <a:srgbClr val="232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Severity stat tiles + bar chart</a:t>
            </a:r>
            <a:endParaRPr lang="en-US" sz="1080" dirty="0"/>
          </a:p>
        </p:txBody>
      </p:sp>
      <p:sp>
        <p:nvSpPr>
          <p:cNvPr id="13" name="Shape 11"/>
          <p:cNvSpPr/>
          <p:nvPr/>
        </p:nvSpPr>
        <p:spPr>
          <a:xfrm>
            <a:off x="548640" y="2377440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1E2761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23774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32688" y="2322576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80" dirty="0">
                <a:solidFill>
                  <a:srgbClr val="232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OWASP Top 10 (2021) mapping chart</a:t>
            </a:r>
            <a:endParaRPr lang="en-US" sz="1080" dirty="0"/>
          </a:p>
        </p:txBody>
      </p:sp>
      <p:sp>
        <p:nvSpPr>
          <p:cNvPr id="16" name="Shape 14"/>
          <p:cNvSpPr/>
          <p:nvPr/>
        </p:nvSpPr>
        <p:spPr>
          <a:xfrm>
            <a:off x="4160520" y="2377440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1E2761"/>
          </a:solidFill>
          <a:ln/>
        </p:spPr>
      </p:sp>
      <p:sp>
        <p:nvSpPr>
          <p:cNvPr id="17" name="Text 15"/>
          <p:cNvSpPr/>
          <p:nvPr/>
        </p:nvSpPr>
        <p:spPr>
          <a:xfrm>
            <a:off x="4160520" y="23774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544568" y="2322576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80" dirty="0">
                <a:solidFill>
                  <a:srgbClr val="232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Sortable vulnerability table + per-finding detail</a:t>
            </a:r>
            <a:endParaRPr lang="en-US" sz="1080" dirty="0"/>
          </a:p>
        </p:txBody>
      </p:sp>
      <p:sp>
        <p:nvSpPr>
          <p:cNvPr id="19" name="Shape 17"/>
          <p:cNvSpPr/>
          <p:nvPr/>
        </p:nvSpPr>
        <p:spPr>
          <a:xfrm>
            <a:off x="7772400" y="2377440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1E2761"/>
          </a:solidFill>
          <a:ln/>
        </p:spPr>
      </p:sp>
      <p:sp>
        <p:nvSpPr>
          <p:cNvPr id="20" name="Text 18"/>
          <p:cNvSpPr/>
          <p:nvPr/>
        </p:nvSpPr>
        <p:spPr>
          <a:xfrm>
            <a:off x="7772400" y="23774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156448" y="2322576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80" dirty="0">
                <a:solidFill>
                  <a:srgbClr val="232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Findings grouped by file</a:t>
            </a:r>
            <a:endParaRPr lang="en-US" sz="1080" dirty="0"/>
          </a:p>
        </p:txBody>
      </p:sp>
      <p:sp>
        <p:nvSpPr>
          <p:cNvPr id="22" name="Shape 20"/>
          <p:cNvSpPr/>
          <p:nvPr/>
        </p:nvSpPr>
        <p:spPr>
          <a:xfrm>
            <a:off x="548640" y="3154680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1E2761"/>
          </a:solidFill>
          <a:ln/>
        </p:spPr>
      </p:sp>
      <p:sp>
        <p:nvSpPr>
          <p:cNvPr id="23" name="Text 21"/>
          <p:cNvSpPr/>
          <p:nvPr/>
        </p:nvSpPr>
        <p:spPr>
          <a:xfrm>
            <a:off x="548640" y="31546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932688" y="3099816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80" dirty="0">
                <a:solidFill>
                  <a:srgbClr val="232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Dependency vulnerabilities with fixed versions</a:t>
            </a:r>
            <a:endParaRPr lang="en-US" sz="1080" dirty="0"/>
          </a:p>
        </p:txBody>
      </p:sp>
      <p:sp>
        <p:nvSpPr>
          <p:cNvPr id="25" name="Shape 23"/>
          <p:cNvSpPr/>
          <p:nvPr/>
        </p:nvSpPr>
        <p:spPr>
          <a:xfrm>
            <a:off x="4160520" y="3154680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1E2761"/>
          </a:solidFill>
          <a:ln/>
        </p:spPr>
      </p:sp>
      <p:sp>
        <p:nvSpPr>
          <p:cNvPr id="26" name="Text 24"/>
          <p:cNvSpPr/>
          <p:nvPr/>
        </p:nvSpPr>
        <p:spPr>
          <a:xfrm>
            <a:off x="4160520" y="31546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544568" y="3099816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80" dirty="0">
                <a:solidFill>
                  <a:srgbClr val="232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 findings — values always masked</a:t>
            </a:r>
            <a:endParaRPr lang="en-US" sz="1080" dirty="0"/>
          </a:p>
        </p:txBody>
      </p:sp>
      <p:sp>
        <p:nvSpPr>
          <p:cNvPr id="28" name="Shape 26"/>
          <p:cNvSpPr/>
          <p:nvPr/>
        </p:nvSpPr>
        <p:spPr>
          <a:xfrm>
            <a:off x="7772400" y="3154680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1E2761"/>
          </a:solidFill>
          <a:ln/>
        </p:spPr>
      </p:sp>
      <p:sp>
        <p:nvSpPr>
          <p:cNvPr id="29" name="Text 27"/>
          <p:cNvSpPr/>
          <p:nvPr/>
        </p:nvSpPr>
        <p:spPr>
          <a:xfrm>
            <a:off x="7772400" y="31546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8156448" y="3099816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80" dirty="0">
                <a:solidFill>
                  <a:srgbClr val="232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 / IaC misconfigurations</a:t>
            </a:r>
            <a:endParaRPr lang="en-US" sz="1080" dirty="0"/>
          </a:p>
        </p:txBody>
      </p:sp>
      <p:sp>
        <p:nvSpPr>
          <p:cNvPr id="31" name="Shape 29"/>
          <p:cNvSpPr/>
          <p:nvPr/>
        </p:nvSpPr>
        <p:spPr>
          <a:xfrm>
            <a:off x="548640" y="3931920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1E2761"/>
          </a:solidFill>
          <a:ln/>
        </p:spPr>
      </p:sp>
      <p:sp>
        <p:nvSpPr>
          <p:cNvPr id="32" name="Text 30"/>
          <p:cNvSpPr/>
          <p:nvPr/>
        </p:nvSpPr>
        <p:spPr>
          <a:xfrm>
            <a:off x="548640" y="39319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932688" y="3877056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80" dirty="0">
                <a:solidFill>
                  <a:srgbClr val="232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Prioritized action plan</a:t>
            </a:r>
            <a:endParaRPr lang="en-US" sz="1080" dirty="0"/>
          </a:p>
        </p:txBody>
      </p:sp>
      <p:sp>
        <p:nvSpPr>
          <p:cNvPr id="34" name="Shape 32"/>
          <p:cNvSpPr/>
          <p:nvPr/>
        </p:nvSpPr>
        <p:spPr>
          <a:xfrm>
            <a:off x="4160520" y="3931920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1E2761"/>
          </a:solidFill>
          <a:ln/>
        </p:spPr>
      </p:sp>
      <p:sp>
        <p:nvSpPr>
          <p:cNvPr id="35" name="Text 33"/>
          <p:cNvSpPr/>
          <p:nvPr/>
        </p:nvSpPr>
        <p:spPr>
          <a:xfrm>
            <a:off x="4160520" y="39319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4544568" y="3877056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80" dirty="0">
                <a:solidFill>
                  <a:srgbClr val="232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False-positive review notes</a:t>
            </a:r>
            <a:endParaRPr lang="en-US" sz="1080" dirty="0"/>
          </a:p>
        </p:txBody>
      </p:sp>
      <p:sp>
        <p:nvSpPr>
          <p:cNvPr id="37" name="Shape 35"/>
          <p:cNvSpPr/>
          <p:nvPr/>
        </p:nvSpPr>
        <p:spPr>
          <a:xfrm>
            <a:off x="7772400" y="3931920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1E2761"/>
          </a:solidFill>
          <a:ln/>
        </p:spPr>
      </p:sp>
      <p:sp>
        <p:nvSpPr>
          <p:cNvPr id="38" name="Text 36"/>
          <p:cNvSpPr/>
          <p:nvPr/>
        </p:nvSpPr>
        <p:spPr>
          <a:xfrm>
            <a:off x="7772400" y="39319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8156448" y="3877056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80" dirty="0">
                <a:solidFill>
                  <a:srgbClr val="232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Appendix: per-scanner status &amp; duration</a:t>
            </a:r>
            <a:endParaRPr lang="en-US" sz="1080" dirty="0"/>
          </a:p>
        </p:txBody>
      </p:sp>
      <p:sp>
        <p:nvSpPr>
          <p:cNvPr id="40" name="Shape 38"/>
          <p:cNvSpPr/>
          <p:nvPr/>
        </p:nvSpPr>
        <p:spPr>
          <a:xfrm>
            <a:off x="548640" y="5532120"/>
            <a:ext cx="11064240" cy="594360"/>
          </a:xfrm>
          <a:prstGeom prst="roundRect">
            <a:avLst>
              <a:gd name="adj" fmla="val 12308"/>
            </a:avLst>
          </a:prstGeom>
          <a:solidFill>
            <a:srgbClr val="F4F6FC"/>
          </a:solidFill>
          <a:ln/>
        </p:spPr>
      </p:sp>
      <p:sp>
        <p:nvSpPr>
          <p:cNvPr id="41" name="Text 39"/>
          <p:cNvSpPr/>
          <p:nvPr/>
        </p:nvSpPr>
        <p:spPr>
          <a:xfrm>
            <a:off x="548640" y="5532120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 / dark mode support  ·  Fully self-contained  ·  Nothing phones home</a:t>
            </a:r>
            <a:endParaRPr lang="en-US" sz="1250" dirty="0"/>
          </a:p>
        </p:txBody>
      </p:sp>
      <p:sp>
        <p:nvSpPr>
          <p:cNvPr id="42" name="Text 40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CodeSentry — Source Code Security Scanner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Interfaces, Background Jobs &amp; Persistence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5486400" cy="2194560"/>
          </a:xfrm>
          <a:prstGeom prst="roundRect">
            <a:avLst>
              <a:gd name="adj" fmla="val 4167"/>
            </a:avLst>
          </a:prstGeom>
          <a:solidFill>
            <a:srgbClr val="F4F6FC"/>
          </a:solidFill>
          <a:ln/>
        </p:spPr>
      </p:sp>
      <p:sp>
        <p:nvSpPr>
          <p:cNvPr id="4" name="Shape 2"/>
          <p:cNvSpPr/>
          <p:nvPr/>
        </p:nvSpPr>
        <p:spPr>
          <a:xfrm>
            <a:off x="804672" y="1655064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5" name="Image 0" descr="/home/claude/codesentry/icon_termin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0735" y="1791127"/>
            <a:ext cx="294803" cy="294803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508760" y="1636776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32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</a:t>
            </a:r>
            <a:endParaRPr lang="en-US" sz="1450" dirty="0"/>
          </a:p>
        </p:txBody>
      </p:sp>
      <p:sp>
        <p:nvSpPr>
          <p:cNvPr id="7" name="Shape 4"/>
          <p:cNvSpPr/>
          <p:nvPr/>
        </p:nvSpPr>
        <p:spPr>
          <a:xfrm>
            <a:off x="822960" y="2350008"/>
            <a:ext cx="73152" cy="73152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8" name="Text 5"/>
          <p:cNvSpPr/>
          <p:nvPr/>
        </p:nvSpPr>
        <p:spPr>
          <a:xfrm>
            <a:off x="1005840" y="2212848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cli.py path/to/project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822960" y="2852928"/>
            <a:ext cx="73152" cy="73152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0" name="Text 7"/>
          <p:cNvSpPr/>
          <p:nvPr/>
        </p:nvSpPr>
        <p:spPr>
          <a:xfrm>
            <a:off x="1005840" y="2715768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cli.py project.zip --output report.html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822960" y="3355848"/>
            <a:ext cx="73152" cy="73152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2" name="Text 9"/>
          <p:cNvSpPr/>
          <p:nvPr/>
        </p:nvSpPr>
        <p:spPr>
          <a:xfrm>
            <a:off x="1005840" y="3218688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Prints risk score, severity counts, report path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6309360" y="1417320"/>
            <a:ext cx="5486400" cy="2194560"/>
          </a:xfrm>
          <a:prstGeom prst="roundRect">
            <a:avLst>
              <a:gd name="adj" fmla="val 4167"/>
            </a:avLst>
          </a:prstGeom>
          <a:solidFill>
            <a:srgbClr val="F4F6FC"/>
          </a:solidFill>
          <a:ln/>
        </p:spPr>
      </p:sp>
      <p:sp>
        <p:nvSpPr>
          <p:cNvPr id="14" name="Shape 11"/>
          <p:cNvSpPr/>
          <p:nvPr/>
        </p:nvSpPr>
        <p:spPr>
          <a:xfrm>
            <a:off x="6565392" y="1655064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5" name="Image 1" descr="/home/claude/codesentry/icon_serv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01455" y="1791127"/>
            <a:ext cx="294803" cy="294803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7269480" y="1636776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32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 (FastAPI)</a:t>
            </a:r>
            <a:endParaRPr lang="en-US" sz="1450" dirty="0"/>
          </a:p>
        </p:txBody>
      </p:sp>
      <p:sp>
        <p:nvSpPr>
          <p:cNvPr id="17" name="Shape 13"/>
          <p:cNvSpPr/>
          <p:nvPr/>
        </p:nvSpPr>
        <p:spPr>
          <a:xfrm>
            <a:off x="6583680" y="2350008"/>
            <a:ext cx="73152" cy="73152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8" name="Text 14"/>
          <p:cNvSpPr/>
          <p:nvPr/>
        </p:nvSpPr>
        <p:spPr>
          <a:xfrm>
            <a:off x="6766560" y="2212848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/health · POST /scans/upload · POST /scans/path</a:t>
            </a:r>
            <a:endParaRPr lang="en-US" sz="1000" dirty="0"/>
          </a:p>
        </p:txBody>
      </p:sp>
      <p:sp>
        <p:nvSpPr>
          <p:cNvPr id="19" name="Shape 15"/>
          <p:cNvSpPr/>
          <p:nvPr/>
        </p:nvSpPr>
        <p:spPr>
          <a:xfrm>
            <a:off x="6583680" y="2852928"/>
            <a:ext cx="73152" cy="73152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0" name="Text 16"/>
          <p:cNvSpPr/>
          <p:nvPr/>
        </p:nvSpPr>
        <p:spPr>
          <a:xfrm>
            <a:off x="6766560" y="2715768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/scans/{id} · GET /scans/{id}/report</a:t>
            </a:r>
            <a:endParaRPr lang="en-US" sz="1000" dirty="0"/>
          </a:p>
        </p:txBody>
      </p:sp>
      <p:sp>
        <p:nvSpPr>
          <p:cNvPr id="21" name="Shape 17"/>
          <p:cNvSpPr/>
          <p:nvPr/>
        </p:nvSpPr>
        <p:spPr>
          <a:xfrm>
            <a:off x="548640" y="3886200"/>
            <a:ext cx="5486400" cy="2194560"/>
          </a:xfrm>
          <a:prstGeom prst="roundRect">
            <a:avLst>
              <a:gd name="adj" fmla="val 4167"/>
            </a:avLst>
          </a:prstGeom>
          <a:solidFill>
            <a:srgbClr val="F4F6FC"/>
          </a:solidFill>
          <a:ln/>
        </p:spPr>
      </p:sp>
      <p:sp>
        <p:nvSpPr>
          <p:cNvPr id="22" name="Shape 18"/>
          <p:cNvSpPr/>
          <p:nvPr/>
        </p:nvSpPr>
        <p:spPr>
          <a:xfrm>
            <a:off x="804672" y="4123944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3" name="Image 2" descr="/home/claude/codesentry/icon_cube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0735" y="4260007"/>
            <a:ext cx="294803" cy="294803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1508760" y="4105656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32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 Jobs (Celery)</a:t>
            </a:r>
            <a:endParaRPr lang="en-US" sz="1450" dirty="0"/>
          </a:p>
        </p:txBody>
      </p:sp>
      <p:sp>
        <p:nvSpPr>
          <p:cNvPr id="25" name="Shape 20"/>
          <p:cNvSpPr/>
          <p:nvPr/>
        </p:nvSpPr>
        <p:spPr>
          <a:xfrm>
            <a:off x="822960" y="4818888"/>
            <a:ext cx="73152" cy="73152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6" name="Text 21"/>
          <p:cNvSpPr/>
          <p:nvPr/>
        </p:nvSpPr>
        <p:spPr>
          <a:xfrm>
            <a:off x="1005840" y="4681728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CELERY_TASK_ALWAYS_EAGER=true runs inline for dev</a:t>
            </a:r>
            <a:endParaRPr lang="en-US" sz="1000" dirty="0"/>
          </a:p>
        </p:txBody>
      </p:sp>
      <p:sp>
        <p:nvSpPr>
          <p:cNvPr id="27" name="Shape 22"/>
          <p:cNvSpPr/>
          <p:nvPr/>
        </p:nvSpPr>
        <p:spPr>
          <a:xfrm>
            <a:off x="822960" y="5321808"/>
            <a:ext cx="73152" cy="73152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8" name="Text 23"/>
          <p:cNvSpPr/>
          <p:nvPr/>
        </p:nvSpPr>
        <p:spPr>
          <a:xfrm>
            <a:off x="1005840" y="5184648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false + worker for async processing via Redis</a:t>
            </a:r>
            <a:endParaRPr lang="en-US" sz="1000" dirty="0"/>
          </a:p>
        </p:txBody>
      </p:sp>
      <p:sp>
        <p:nvSpPr>
          <p:cNvPr id="29" name="Shape 24"/>
          <p:cNvSpPr/>
          <p:nvPr/>
        </p:nvSpPr>
        <p:spPr>
          <a:xfrm>
            <a:off x="6309360" y="3886200"/>
            <a:ext cx="5486400" cy="2194560"/>
          </a:xfrm>
          <a:prstGeom prst="roundRect">
            <a:avLst>
              <a:gd name="adj" fmla="val 4167"/>
            </a:avLst>
          </a:prstGeom>
          <a:solidFill>
            <a:srgbClr val="F4F6FC"/>
          </a:solidFill>
          <a:ln/>
        </p:spPr>
      </p:sp>
      <p:sp>
        <p:nvSpPr>
          <p:cNvPr id="30" name="Shape 25"/>
          <p:cNvSpPr/>
          <p:nvPr/>
        </p:nvSpPr>
        <p:spPr>
          <a:xfrm>
            <a:off x="6565392" y="4123944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1" name="Image 3" descr="/home/claude/codesentry/icon_databas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01455" y="4260007"/>
            <a:ext cx="294803" cy="294803"/>
          </a:xfrm>
          <a:prstGeom prst="rect">
            <a:avLst/>
          </a:prstGeom>
        </p:spPr>
      </p:pic>
      <p:sp>
        <p:nvSpPr>
          <p:cNvPr id="32" name="Text 26"/>
          <p:cNvSpPr/>
          <p:nvPr/>
        </p:nvSpPr>
        <p:spPr>
          <a:xfrm>
            <a:off x="7269480" y="4105656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32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Persistence (SQLAlchemy)</a:t>
            </a:r>
            <a:endParaRPr lang="en-US" sz="1450" dirty="0"/>
          </a:p>
        </p:txBody>
      </p:sp>
      <p:sp>
        <p:nvSpPr>
          <p:cNvPr id="33" name="Shape 27"/>
          <p:cNvSpPr/>
          <p:nvPr/>
        </p:nvSpPr>
        <p:spPr>
          <a:xfrm>
            <a:off x="6583680" y="4818888"/>
            <a:ext cx="73152" cy="73152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4" name="Text 28"/>
          <p:cNvSpPr/>
          <p:nvPr/>
        </p:nvSpPr>
        <p:spPr>
          <a:xfrm>
            <a:off x="6766560" y="4681728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Scan: status, risk score/level, stats JSON</a:t>
            </a:r>
            <a:endParaRPr lang="en-US" sz="1000" dirty="0"/>
          </a:p>
        </p:txBody>
      </p:sp>
      <p:sp>
        <p:nvSpPr>
          <p:cNvPr id="35" name="Shape 29"/>
          <p:cNvSpPr/>
          <p:nvPr/>
        </p:nvSpPr>
        <p:spPr>
          <a:xfrm>
            <a:off x="6583680" y="5321808"/>
            <a:ext cx="73152" cy="73152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6" name="Text 30"/>
          <p:cNvSpPr/>
          <p:nvPr/>
        </p:nvSpPr>
        <p:spPr>
          <a:xfrm>
            <a:off x="6766560" y="5184648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FindingRecord: per-scan findings for audit — SQLite or PostgreSQL</a:t>
            </a:r>
            <a:endParaRPr lang="en-US" sz="1000" dirty="0"/>
          </a:p>
        </p:txBody>
      </p:sp>
      <p:sp>
        <p:nvSpPr>
          <p:cNvPr id="37" name="Text 31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CodeSentry — Source Code Security Scanner</a:t>
            </a:r>
            <a:endParaRPr lang="en-US" sz="1000" dirty="0"/>
          </a:p>
        </p:txBody>
      </p:sp>
      <p:sp>
        <p:nvSpPr>
          <p:cNvPr id="38" name="Text 32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685800" cy="685800"/>
          </a:xfrm>
          <a:prstGeom prst="ellipse">
            <a:avLst/>
          </a:prstGeom>
          <a:solidFill>
            <a:srgbClr val="3DDC97"/>
          </a:solidFill>
          <a:ln/>
        </p:spPr>
      </p:sp>
      <p:pic>
        <p:nvPicPr>
          <p:cNvPr id="3" name="Image 0" descr="/home/claude/codesentry/icon_shiel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0090" y="674370"/>
            <a:ext cx="342900" cy="3429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502920"/>
            <a:ext cx="9144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Security-First, By Design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548640" y="1627632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3DDC97"/>
          </a:solidFill>
          <a:ln/>
        </p:spPr>
      </p:sp>
      <p:sp>
        <p:nvSpPr>
          <p:cNvPr id="6" name="Text 3"/>
          <p:cNvSpPr/>
          <p:nvPr/>
        </p:nvSpPr>
        <p:spPr>
          <a:xfrm>
            <a:off x="548640" y="162763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987552" y="1554480"/>
            <a:ext cx="4983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4E9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Scanned code is never executed — static analysis only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6172200" y="1627632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3DDC97"/>
          </a:solidFill>
          <a:ln/>
        </p:spPr>
      </p:sp>
      <p:sp>
        <p:nvSpPr>
          <p:cNvPr id="9" name="Text 6"/>
          <p:cNvSpPr/>
          <p:nvPr/>
        </p:nvSpPr>
        <p:spPr>
          <a:xfrm>
            <a:off x="6172200" y="162763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6611112" y="1554480"/>
            <a:ext cx="4983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4E9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Subprocess calls: argument lists only, resolved executables, hard timeouts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548640" y="2404872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3DDC97"/>
          </a:solidFill>
          <a:ln/>
        </p:spPr>
      </p:sp>
      <p:sp>
        <p:nvSpPr>
          <p:cNvPr id="12" name="Text 9"/>
          <p:cNvSpPr/>
          <p:nvPr/>
        </p:nvSpPr>
        <p:spPr>
          <a:xfrm>
            <a:off x="548640" y="240487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987552" y="2331720"/>
            <a:ext cx="4983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4E9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Secrets masked everywhere — findings, snippets, database records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172200" y="2404872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3DDC97"/>
          </a:solidFill>
          <a:ln/>
        </p:spPr>
      </p:sp>
      <p:sp>
        <p:nvSpPr>
          <p:cNvPr id="15" name="Text 12"/>
          <p:cNvSpPr/>
          <p:nvPr/>
        </p:nvSpPr>
        <p:spPr>
          <a:xfrm>
            <a:off x="6172200" y="240487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6611112" y="2331720"/>
            <a:ext cx="4983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4E9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Scanner-reported paths re-sanitized before rendering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548640" y="3182112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3DDC97"/>
          </a:solidFill>
          <a:ln/>
        </p:spPr>
      </p:sp>
      <p:sp>
        <p:nvSpPr>
          <p:cNvPr id="18" name="Text 15"/>
          <p:cNvSpPr/>
          <p:nvPr/>
        </p:nvSpPr>
        <p:spPr>
          <a:xfrm>
            <a:off x="548640" y="318211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987552" y="3108960"/>
            <a:ext cx="4983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4E9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cloning restricted to https:// with --depth 1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6172200" y="3182112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3DDC97"/>
          </a:solidFill>
          <a:ln/>
        </p:spPr>
      </p:sp>
      <p:sp>
        <p:nvSpPr>
          <p:cNvPr id="21" name="Text 18"/>
          <p:cNvSpPr/>
          <p:nvPr/>
        </p:nvSpPr>
        <p:spPr>
          <a:xfrm>
            <a:off x="6172200" y="318211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6611112" y="3108960"/>
            <a:ext cx="4983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4E9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Jinja2 autoescape — scanned code cannot inject script into the report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548640" y="4709160"/>
            <a:ext cx="11064240" cy="0"/>
          </a:xfrm>
          <a:prstGeom prst="line">
            <a:avLst/>
          </a:prstGeom>
          <a:noFill/>
          <a:ln w="12700">
            <a:solidFill>
              <a:srgbClr val="3A4487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48640" y="493776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Config-driven (.env) · pluggable scanners · deterministic scoring · optional LLM narrative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548640" y="548640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CodeSentry turns raw scanner output into a prioritized, auditable, self-contained security report.</a:t>
            </a:r>
            <a:endParaRPr lang="en-US" sz="1600" dirty="0"/>
          </a:p>
        </p:txBody>
      </p:sp>
      <p:sp>
        <p:nvSpPr>
          <p:cNvPr id="26" name="Text 23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E9B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CodeSentry — Source Code Security Scanner</a:t>
            </a:r>
            <a:endParaRPr lang="en-US" sz="1000" dirty="0"/>
          </a:p>
        </p:txBody>
      </p:sp>
      <p:sp>
        <p:nvSpPr>
          <p:cNvPr id="27" name="Text 24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E9B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2026-07-20T09:40:55Z</dcterms:created>
  <dcterms:modified xsi:type="dcterms:W3CDTF">2026-07-20T09:40:55Z</dcterms:modified>
</cp:coreProperties>
</file>